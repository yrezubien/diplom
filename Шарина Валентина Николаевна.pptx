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71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578" y="10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FBD1EC-46D4-4531-81F4-39B218C864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38CA3A3-01BB-44A3-816D-208A0E1A0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FC41DD-9FBC-41D3-93CA-A58F35AB1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C2DFAB-6637-49B1-A442-FB95BF95C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88C93BE-5C43-463E-927A-1FA276ABB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448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2D1079-2E9F-4DAB-9690-6621D6910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7470A4-B5B5-4449-B310-EBC2841ED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EC9BA0-A4AF-4A81-8615-53AE34583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528D9A-9A3B-4E9D-BD72-953CD8757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410214-5CD4-421E-A8F7-2A5649A4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93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CF0775-81C6-49A9-A7A1-6767E81A5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996F52-03CF-47B4-995B-88156FAE5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371B7A-1C48-40E0-86E2-7477AFFE0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0EB0C6-6917-4429-B586-88230A70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93D0CCC-B3DE-490A-A410-9D4E54327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281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8AE86-FB28-4AD0-ADC9-6AD4E5768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88046E-C400-4DE4-8A84-795781028F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EAA8EB-38BB-4C9D-8A29-C963EC185E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07A3CB-A257-4166-840A-F8861EF88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467131-AC35-4509-9C1C-E89AFA65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D07F1D5-6E31-4C3A-87D7-CF6A72494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0681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44F48E-F300-4370-8279-89314B873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2B3C7C-FF8E-451E-B7FF-BF75BDB9D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7B6C157-AEE6-4E35-8DE7-E14E30111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E33C030-82ED-4C2E-B790-781407FFD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8064E048-E6D7-4393-821B-B440A4FAC2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B415222-A0FD-44E8-B8C5-D4FD21445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8DED004-AC25-4D85-BAEF-309A6AB22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9D5C39-A0D4-497C-BEA2-E7DBEE47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591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878C12-F5FD-4F35-871C-05CC7743E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C7979DB-2C59-4393-9CE3-0A30BA0D4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DFFAB42-6C73-4CEB-AB94-E408B12B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C881FF0-4D96-48D5-9BB2-AC5BAC07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133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8520D61-B945-4049-8F51-1C8444EA2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63CF4EB-4A48-4624-BA9F-CD44B59E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2213F3-BBE1-4BFA-A224-E77D70B83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59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E8CD99-2FFB-47A0-9BFE-3C5F8778F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AC8342A-8670-4068-A596-07CDD00CD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DC75227-3A51-4DC7-8675-702F9000E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C4516DC-A3C4-4C7E-906D-6885D9EBA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093FD8-8998-4A26-B39D-A8932ACB3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9E29980-C08C-49D0-B413-AF034459C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327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83F216-D6F2-4213-84E2-44938A4A5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A153215-FF8D-4E67-AC0C-2D9E9B09B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C14AA88-2DA4-499D-8E75-8A994F929D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A4E9C04-9268-42F3-88AD-726FFB954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A16F03F-D5C6-483E-846C-37249836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AD4E41-EFAF-4BD0-A4EF-ADC0BF6EC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834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30A437-6689-462B-B19A-62A04499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11CD00E-116D-46BE-A400-FE8297428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BE4C80-8777-4A67-98B0-28F364DF7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48069F-A700-4CB8-95DC-C99947EA3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84B9D2-FAE2-4F3F-905F-B2947FF26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3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135DB78-C714-4003-964B-AF997AE52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809B163-127D-436A-A518-459C1DF63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FF9DED-441B-4EF8-9629-99A544FC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001BD5B-131F-4140-B2A3-1427D8A9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7BDDD3-EB4F-4E26-BF42-88469F835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1930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EEED0-7BD7-474F-8497-8CB0A8B7A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F01A837-49C5-4F72-91C8-21B2F15BB2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BF03447-FEDE-4E35-AC71-826E44FA0D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C0FD7-B75C-4D67-AD7A-80DC2D821E57}" type="datetimeFigureOut">
              <a:rPr lang="ru-RU" smtClean="0"/>
              <a:t>25.03.2026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67E928-92FF-4C2F-AE07-413EC201A3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694A8E-6039-4B35-9CA7-7F0C5103F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0519C-8506-483B-950D-B21DCB09D85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108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06AEA7-3D57-4DA4-8553-291B4AE94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5438"/>
            <a:ext cx="9144000" cy="2387600"/>
          </a:xfrm>
        </p:spPr>
        <p:txBody>
          <a:bodyPr/>
          <a:lstStyle/>
          <a:p>
            <a:r>
              <a:rPr lang="ru-RU" sz="4000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Схемы расщепления для моделирования течений газа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C2055F9-A11B-4ABC-8761-FDAB049B27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6900" y="4625181"/>
            <a:ext cx="9144000" cy="1274762"/>
          </a:xfrm>
        </p:spPr>
        <p:txBody>
          <a:bodyPr>
            <a:normAutofit fontScale="77500" lnSpcReduction="20000"/>
          </a:bodyPr>
          <a:lstStyle/>
          <a:p>
            <a:pPr algn="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Выполнила: студент 4-го курса, группы Б-ПМИ-22</a:t>
            </a:r>
            <a:br>
              <a:rPr lang="ru-RU" dirty="0">
                <a:solidFill>
                  <a:schemeClr val="accent1">
                    <a:lumMod val="50000"/>
                  </a:schemeClr>
                </a:solidFill>
              </a:rPr>
            </a:b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Шарина Валентина</a:t>
            </a:r>
          </a:p>
          <a:p>
            <a:pPr algn="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Научный руководитель: к. ф.-м. н., ст. научный сотрудник лаборатории ВТ-ИИ ИМИ</a:t>
            </a:r>
          </a:p>
          <a:p>
            <a:pPr algn="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Григорьев Василий Васильевич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5BB47F9-B686-43D0-B81C-154ADFB96F97}"/>
              </a:ext>
            </a:extLst>
          </p:cNvPr>
          <p:cNvSpPr/>
          <p:nvPr/>
        </p:nvSpPr>
        <p:spPr>
          <a:xfrm>
            <a:off x="581025" y="752475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6117A9E-A1E3-4551-B998-CCCD4745F1D1}"/>
              </a:ext>
            </a:extLst>
          </p:cNvPr>
          <p:cNvSpPr/>
          <p:nvPr/>
        </p:nvSpPr>
        <p:spPr>
          <a:xfrm>
            <a:off x="11058525" y="3602038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E68AEA7-3526-4782-B065-B04AF99FD10B}"/>
              </a:ext>
            </a:extLst>
          </p:cNvPr>
          <p:cNvSpPr/>
          <p:nvPr/>
        </p:nvSpPr>
        <p:spPr>
          <a:xfrm rot="5400000">
            <a:off x="2140744" y="-426244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BB52B86-F3E1-421D-85F9-D95D7A8125C4}"/>
              </a:ext>
            </a:extLst>
          </p:cNvPr>
          <p:cNvSpPr/>
          <p:nvPr/>
        </p:nvSpPr>
        <p:spPr>
          <a:xfrm rot="5400000">
            <a:off x="9479756" y="4780757"/>
            <a:ext cx="400050" cy="275748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3351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Введение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419226"/>
            <a:ext cx="10077450" cy="475773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Моделирование течений газа — ключевая задача вычислительной </a:t>
            </a:r>
            <a:r>
              <a:rPr lang="ru-RU" sz="2400" b="1" dirty="0" err="1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гидрогазодинамики</a:t>
            </a: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. Основная сложность решения уравнений Навье-Стокса в нелинейности системы и необходимости соблюдения законов сохранения массы,  импульса и механической энергии.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Неявные схемы требуют больших вычислительных затрат, а явные схемы имеют ограничения по шагу времени для устойчивости.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CEAE40E-25C3-47B6-A105-68056224FEF7}"/>
              </a:ext>
            </a:extLst>
          </p:cNvPr>
          <p:cNvSpPr/>
          <p:nvPr/>
        </p:nvSpPr>
        <p:spPr>
          <a:xfrm>
            <a:off x="4876800" y="2006124"/>
            <a:ext cx="2606038" cy="110283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Двухуровневая неявная итерационная схема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F8CCF033-0F5F-41C2-9EFD-D7FEDB8AC061}"/>
              </a:ext>
            </a:extLst>
          </p:cNvPr>
          <p:cNvSpPr/>
          <p:nvPr/>
        </p:nvSpPr>
        <p:spPr>
          <a:xfrm>
            <a:off x="2621284" y="3149124"/>
            <a:ext cx="2606038" cy="1102836"/>
          </a:xfrm>
          <a:prstGeom prst="roundRect">
            <a:avLst>
              <a:gd name="adj" fmla="val 18298"/>
            </a:avLst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Подзадача на плотность</a:t>
            </a:r>
          </a:p>
          <a:p>
            <a:pPr algn="ctr"/>
            <a:r>
              <a:rPr lang="ru-RU" dirty="0"/>
              <a:t>(Дискретизация по пространству)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6D4DA7F-1127-4E0B-8AEC-C39941337CC9}"/>
              </a:ext>
            </a:extLst>
          </p:cNvPr>
          <p:cNvSpPr/>
          <p:nvPr/>
        </p:nvSpPr>
        <p:spPr>
          <a:xfrm>
            <a:off x="7101842" y="3210084"/>
            <a:ext cx="2606038" cy="1102836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Подзадача на скорость</a:t>
            </a:r>
          </a:p>
          <a:p>
            <a:pPr algn="ctr"/>
            <a:r>
              <a:rPr lang="ru-RU" dirty="0"/>
              <a:t>(Дискретизация по времени)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7C1C96F-43B7-45FC-9D86-1445F47F2DD9}"/>
              </a:ext>
            </a:extLst>
          </p:cNvPr>
          <p:cNvSpPr/>
          <p:nvPr/>
        </p:nvSpPr>
        <p:spPr>
          <a:xfrm>
            <a:off x="1276350" y="2864861"/>
            <a:ext cx="1065657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Цель: реализация и исследование эффективности неявных схем расщепления по физическим процессам для уравнений Навье–Стокса.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92674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  <p:bldP spid="5" grpId="0" animBg="1"/>
      <p:bldP spid="5" grpId="1"/>
      <p:bldP spid="6" grpId="0" animBg="1"/>
      <p:bldP spid="6" grpId="1"/>
      <p:bldP spid="7" grpId="0" animBg="1"/>
      <p:bldP spid="7" grpId="1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Математическая модель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Уравнение неразрывности: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𝜕𝜌</m:t>
                          </m:r>
                        </m:num>
                        <m:den>
                          <m:r>
                            <a:rPr lang="ru-RU" sz="2400" b="0" i="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sz="2400" b="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ru-RU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ru-RU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ru-RU" sz="2400" b="0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ru-RU" sz="2400" b="0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Уравнение импульса: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d>
                            <m:dPr>
                              <m:ctrlPr>
                                <a:rPr lang="ru-RU" sz="2400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b="0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a:rPr lang="ru-RU" sz="2400" b="0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num>
                        <m:den>
                          <m:r>
                            <a:rPr lang="ru-RU" sz="2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ru-RU" sz="2400" b="0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r>
                            <a:rPr lang="ru-RU" sz="2400" b="0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sz="2400" b="0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ru-RU" sz="2400" b="0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Для уравнения Навье–Стокса добавляется вязкость: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u-RU" sz="24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d>
                          <m:dPr>
                            <m:ctrlPr>
                              <a:rPr lang="ru-RU" sz="2400" i="1" dirty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b="0" i="1" dirty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𝜌</m:t>
                            </m:r>
                            <m:r>
                              <a:rPr lang="ru-RU" sz="2400" b="0" i="1" dirty="0" smtClean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num>
                      <m:den>
                        <m:r>
                          <a:rPr lang="ru-RU" sz="2400" b="0" i="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d>
                      <m:dPr>
                        <m:ctrlPr>
                          <a:rPr lang="ru-RU" sz="240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sz="2400" b="0" i="0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⊗</m:t>
                        </m:r>
                        <m:r>
                          <a:rPr lang="ru-RU" sz="2400" b="0" i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ru-RU" sz="24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ru-RU" sz="2400" b="0" i="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ru-RU" sz="2400" b="0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,</a:t>
                </a:r>
              </a:p>
              <a:p>
                <a:pPr marL="0" indent="0" algn="ctr">
                  <a:buNone/>
                </a:pPr>
                <a:r>
                  <a:rPr lang="ru-RU" sz="2400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						где</a:t>
                </a: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sSup>
                          <m:sSupPr>
                            <m:ctrlP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𝜇</m:t>
                    </m:r>
                    <m:d>
                      <m:d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∇</m:t>
                        </m:r>
                        <m: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  <a:blipFill>
                <a:blip r:embed="rId2"/>
                <a:stretch>
                  <a:fillRect l="-907" t="-1795" b="-89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89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Уравнение состояния: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982737-6131-4461-83A3-4D6E9DF482F4}"/>
                  </a:ext>
                </a:extLst>
              </p:cNvPr>
              <p:cNvSpPr txBox="1"/>
              <p:nvPr/>
            </p:nvSpPr>
            <p:spPr>
              <a:xfrm>
                <a:off x="2495551" y="1648692"/>
                <a:ext cx="2334358" cy="1471493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ru-R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32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ru-RU" sz="32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sz="32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ru-RU" sz="32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32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p>
                          <m:r>
                            <a:rPr lang="ru-RU" sz="32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sup>
                      </m:sSup>
                    </m:oMath>
                  </m:oMathPara>
                </a14:m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endParaRPr lang="ru-RU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4982737-6131-4461-83A3-4D6E9DF482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5551" y="1648692"/>
                <a:ext cx="2334358" cy="147149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DBAC6F-33D8-4CAE-8A09-A44D2B8FA614}"/>
                  </a:ext>
                </a:extLst>
              </p:cNvPr>
              <p:cNvSpPr txBox="1"/>
              <p:nvPr/>
            </p:nvSpPr>
            <p:spPr>
              <a:xfrm>
                <a:off x="6953250" y="1339876"/>
                <a:ext cx="3962400" cy="2089124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3500000" scaled="1"/>
                <a:tileRect/>
              </a:grad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endParaRPr lang="ru-RU" b="1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endParaRPr lang="ru-RU" b="1" i="1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smtClean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ru-RU" sz="24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p>
                          <m:r>
                            <a:rPr lang="ru-RU" sz="2400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ru-RU" sz="2400" b="1" i="1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𝝆</m:t>
                      </m:r>
                      <m:r>
                        <a:rPr lang="ru-RU" sz="2400" b="1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  <m:r>
                            <a:rPr lang="ru-RU" sz="2400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sz="2400" b="1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sSup>
                        <m:sSupPr>
                          <m:ctrlP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p>
                          <m:r>
                            <a:rPr lang="ru-RU" sz="2400" b="1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𝜸</m:t>
                          </m:r>
                        </m:sup>
                      </m:sSup>
                    </m:oMath>
                  </m:oMathPara>
                </a14:m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  <a:p>
                <a:endParaRPr lang="ru-RU" b="1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6DBAC6F-33D8-4CAE-8A09-A44D2B8FA6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3250" y="1339876"/>
                <a:ext cx="3962400" cy="208912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28575">
                <a:solidFill>
                  <a:schemeClr val="accent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0D0D860-4755-4DE5-8033-558E428D0757}"/>
              </a:ext>
            </a:extLst>
          </p:cNvPr>
          <p:cNvCxnSpPr/>
          <p:nvPr/>
        </p:nvCxnSpPr>
        <p:spPr>
          <a:xfrm>
            <a:off x="5267692" y="2374914"/>
            <a:ext cx="1428016" cy="0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2A524-C136-4196-BD22-FE33D8EDC176}"/>
                  </a:ext>
                </a:extLst>
              </p:cNvPr>
              <p:cNvSpPr txBox="1"/>
              <p:nvPr/>
            </p:nvSpPr>
            <p:spPr>
              <a:xfrm>
                <a:off x="4829909" y="3728586"/>
                <a:ext cx="3118739" cy="8943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∏"/>
                          <m:grow m:val="on"/>
                          <m:subHide m:val="on"/>
                          <m:supHide m:val="on"/>
                          <m:ctrlPr>
                            <a:rPr lang="ru-RU" sz="24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24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e>
                      </m:nary>
                      <m:r>
                        <a:rPr lang="ru-RU" sz="240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ru-RU" sz="2400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ru-RU" sz="24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ru-RU" sz="24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fName>
                        <m:e>
                          <m:r>
                            <a:rPr lang="ru-RU" sz="2400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ru-RU" sz="2400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432A524-C136-4196-BD22-FE33D8EDC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909" y="3728586"/>
                <a:ext cx="3118739" cy="894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CAA6DA-73BF-46A6-BA10-E9BAEFAB3167}"/>
                  </a:ext>
                </a:extLst>
              </p:cNvPr>
              <p:cNvSpPr txBox="1"/>
              <p:nvPr/>
            </p:nvSpPr>
            <p:spPr>
              <a:xfrm>
                <a:off x="4297583" y="4869678"/>
                <a:ext cx="4183389" cy="12958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2400" b="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sz="2400" b="0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∂</m:t>
                          </m:r>
                          <m:r>
                            <a:rPr lang="ru-RU" sz="2400" b="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nary>
                        <m:naryPr>
                          <m:limLoc m:val="undOvr"/>
                          <m:grow m:val="on"/>
                          <m:supHide m:val="on"/>
                          <m:ctrlPr>
                            <a:rPr lang="ru-RU" sz="24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b="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ru-RU" sz="240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sz="24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sz="2400" b="0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sz="2400" b="0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ru-RU" sz="2400" b="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sSup>
                                <m:sSupPr>
                                  <m:ctrlPr>
                                    <a:rPr lang="ru-RU" sz="24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ru-RU" sz="240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sz="2400" b="0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ru-RU" sz="2400" b="0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sz="2400" b="0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sz="2400" b="0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𝛱</m:t>
                              </m:r>
                              <m:d>
                                <m:dPr>
                                  <m:ctrlPr>
                                    <a:rPr lang="ru-RU" sz="240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2400" b="0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</m:d>
                            </m:e>
                          </m:d>
                          <m:r>
                            <a:rPr lang="ru-RU" sz="2400" b="0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ru-RU" sz="2400" b="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r>
                        <a:rPr lang="ru-RU" sz="2400" b="0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DCAA6DA-73BF-46A6-BA10-E9BAEFAB31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7583" y="4869678"/>
                <a:ext cx="4183389" cy="1295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D28DF0A-0490-4723-9385-8D0EF94EE279}"/>
              </a:ext>
            </a:extLst>
          </p:cNvPr>
          <p:cNvSpPr/>
          <p:nvPr/>
        </p:nvSpPr>
        <p:spPr>
          <a:xfrm>
            <a:off x="1276350" y="3329032"/>
            <a:ext cx="34819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Потенциальная энергия: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F400749-66CC-4777-970A-56E2D4D6EEE7}"/>
              </a:ext>
            </a:extLst>
          </p:cNvPr>
          <p:cNvSpPr/>
          <p:nvPr/>
        </p:nvSpPr>
        <p:spPr>
          <a:xfrm>
            <a:off x="1276350" y="4445613"/>
            <a:ext cx="43504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Полная механическая энергия:</a:t>
            </a:r>
          </a:p>
        </p:txBody>
      </p:sp>
    </p:spTree>
    <p:extLst>
      <p:ext uri="{BB962C8B-B14F-4D97-AF65-F5344CB8AC3E}">
        <p14:creationId xmlns:p14="http://schemas.microsoft.com/office/powerpoint/2010/main" val="2307963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Численный метод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419226"/>
            <a:ext cx="10077450" cy="4757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Метод конечных элементов в пространстве.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  <a:cs typeface="Arial" panose="020B0604020202020204" pitchFamily="34" charset="0"/>
              </a:rPr>
              <a:t>Неявная схема для времени: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BE8E30-F6A7-4F45-AED0-243B21EF1E35}"/>
                  </a:ext>
                </a:extLst>
              </p:cNvPr>
              <p:cNvSpPr txBox="1"/>
              <p:nvPr/>
            </p:nvSpPr>
            <p:spPr>
              <a:xfrm>
                <a:off x="4234631" y="2672209"/>
                <a:ext cx="4160883" cy="7505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400" b="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4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400" b="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ru-RU" sz="2400" b="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9BE8E30-F6A7-4F45-AED0-243B21EF1E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4631" y="2672209"/>
                <a:ext cx="4160883" cy="75059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12A02-88FA-4F7C-A67E-612557ED1FFC}"/>
                  </a:ext>
                </a:extLst>
              </p:cNvPr>
              <p:cNvSpPr txBox="1"/>
              <p:nvPr/>
            </p:nvSpPr>
            <p:spPr>
              <a:xfrm>
                <a:off x="1457324" y="4142641"/>
                <a:ext cx="9715499" cy="8636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800" i="1" smtClean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800" i="1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sz="2800" i="0">
                                  <a:solidFill>
                                    <a:schemeClr val="tx2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  <m: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800" i="0">
                          <a:solidFill>
                            <a:schemeClr val="tx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ru-RU" sz="2800" i="1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0">
                              <a:solidFill>
                                <a:schemeClr val="tx2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ru-RU" sz="2800" dirty="0">
                  <a:solidFill>
                    <a:schemeClr val="tx2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12A02-88FA-4F7C-A67E-612557ED1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7324" y="4142641"/>
                <a:ext cx="9715499" cy="86369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3084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Итерационная схема расщепления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Первый этап: Обновление плотности</a:t>
                </a: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1" i="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ru-RU" sz="2400" b="1" i="1" dirty="0" smtClean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Второй этап: Обновление скорости:</a:t>
                </a: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num>
                        <m:den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⊗</m:t>
                          </m:r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ru-RU" sz="2400" b="1" i="1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ru-RU" sz="2400" b="1" i="0" dirty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∇</m:t>
                      </m:r>
                      <m:sSup>
                        <m:sSup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  <m:sup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Начальные условия:</a:t>
                </a:r>
              </a:p>
              <a:p>
                <a:pPr marL="0" indent="0">
                  <a:buNone/>
                </a:pPr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e>
                      </m:d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ru-RU" sz="2400" b="1" i="0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d>
                        <m:dPr>
                          <m:ctrlP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1" dirty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sz="2400" b="1" i="1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sz="2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sz="2400" b="1" i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  <a:blipFill>
                <a:blip r:embed="rId2"/>
                <a:stretch>
                  <a:fillRect l="-907" t="-17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9741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Постановка задачи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Область: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2400" b="1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ru-RU" sz="24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−5,5</m:t>
                          </m:r>
                        </m:e>
                      </m:d>
                      <m:r>
                        <a:rPr lang="ru-RU" sz="2400" b="1" i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begChr m:val="["/>
                          <m:endChr m:val="]"/>
                          <m:ctrlPr>
                            <a:rPr lang="ru-RU" sz="2400" b="1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400" b="1" i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−5,5</m:t>
                          </m:r>
                        </m:e>
                      </m:d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Начальная плотность:</a:t>
                </a:r>
                <a:endParaRPr lang="en-US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ru-RU" sz="2400" b="1" dirty="0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d>
                          <m:dPr>
                            <m:ctrlP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sub>
                      <m:sup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=1+</m:t>
                    </m:r>
                    <m:r>
                      <a:rPr lang="ru-RU" sz="2400" b="1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sSup>
                      <m:sSupPr>
                        <m:ctrlP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ⅇ</m:t>
                        </m:r>
                      </m:e>
                      <m:sup>
                        <m:r>
                          <a:rPr lang="ru-RU" sz="2400" b="1" i="0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sz="2400" b="1" i="1" dirty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  <m:sSup>
                          <m:sSupPr>
                            <m:ctrlPr>
                              <a:rPr lang="ru-RU" sz="2400" b="1" i="1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ru-RU" sz="2400" b="1" i="1" dirty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u-RU" sz="2400" b="1" i="1" dirty="0">
                                    <a:solidFill>
                                      <a:schemeClr val="accent1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ru-RU" sz="2400" b="1" i="0" dirty="0">
                                <a:solidFill>
                                  <a:schemeClr val="accent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lang="en-US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, </a:t>
                </a:r>
                <a:r>
                  <a:rPr lang="ru-RU" sz="2400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где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Начальная скорость: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2400" b="1" i="1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RU" sz="2400" b="1" i="0" dirty="0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ru-RU" sz="2400" b="1" i="0" dirty="0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ru-RU" sz="2400" b="1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  <a:p>
                <a:pPr marL="0" indent="0">
                  <a:buNone/>
                </a:pPr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Граничные условия: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ru-RU" sz="2400" b="1" i="1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ru-RU" sz="2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ru-RU" sz="2400" b="1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 </a:t>
                </a:r>
                <a:r>
                  <a:rPr lang="ru-RU" sz="2400" dirty="0">
                    <a:solidFill>
                      <a:schemeClr val="accent1">
                        <a:lumMod val="50000"/>
                      </a:schemeClr>
                    </a:solidFill>
                    <a:cs typeface="Arial" panose="020B0604020202020204" pitchFamily="34" charset="0"/>
                  </a:rPr>
                  <a:t>на </a:t>
                </a:r>
                <a14:m>
                  <m:oMath xmlns:m="http://schemas.openxmlformats.org/officeDocument/2006/math">
                    <m:r>
                      <a:rPr lang="ru-RU" sz="2400" dirty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𝜕</m:t>
                    </m:r>
                    <m:r>
                      <a:rPr lang="ru-RU" sz="2400" i="1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endParaRPr lang="ru-RU" sz="2400" dirty="0">
                  <a:solidFill>
                    <a:schemeClr val="accent1">
                      <a:lumMod val="50000"/>
                    </a:schemeClr>
                  </a:solidFill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1264ADE-F840-456B-A21F-0B1F28A1F1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76350" y="1419226"/>
                <a:ext cx="10077450" cy="4757737"/>
              </a:xfrm>
              <a:blipFill>
                <a:blip r:embed="rId2"/>
                <a:stretch>
                  <a:fillRect l="-907" t="-179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6540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Динамика плотности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C51EBFF-AF32-45F2-B24B-F95916881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350" y="2324894"/>
            <a:ext cx="10515600" cy="2628900"/>
          </a:xfrm>
        </p:spPr>
      </p:pic>
    </p:spTree>
    <p:extLst>
      <p:ext uri="{BB962C8B-B14F-4D97-AF65-F5344CB8AC3E}">
        <p14:creationId xmlns:p14="http://schemas.microsoft.com/office/powerpoint/2010/main" val="158722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плотности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D8ED50EC-4158-4126-BE91-FB79010302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66" y="1142995"/>
            <a:ext cx="7315215" cy="457200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C6177A7-313E-48EF-A771-1093B8A8EFAD}"/>
              </a:ext>
            </a:extLst>
          </p:cNvPr>
          <p:cNvSpPr/>
          <p:nvPr/>
        </p:nvSpPr>
        <p:spPr>
          <a:xfrm>
            <a:off x="2047874" y="5629960"/>
            <a:ext cx="102393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Зависимости плотности от времени (центральное, максимальное и минимальное значения)</a:t>
            </a:r>
          </a:p>
        </p:txBody>
      </p:sp>
    </p:spTree>
    <p:extLst>
      <p:ext uri="{BB962C8B-B14F-4D97-AF65-F5344CB8AC3E}">
        <p14:creationId xmlns:p14="http://schemas.microsoft.com/office/powerpoint/2010/main" val="3693647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времени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5FD52DC-6D2A-4794-BCA7-E3409DC00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466" y="1142995"/>
            <a:ext cx="7315215" cy="457200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1EC121-A68C-4F0C-8059-A1BA98CA7F53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5716BD-B4E7-4501-A358-F954BFEAF6D2}"/>
              </a:ext>
            </a:extLst>
          </p:cNvPr>
          <p:cNvSpPr/>
          <p:nvPr/>
        </p:nvSpPr>
        <p:spPr>
          <a:xfrm>
            <a:off x="2219319" y="5552986"/>
            <a:ext cx="823912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Решение в различные моменты времени, вычисленное на сетке M = 50: </a:t>
            </a:r>
          </a:p>
          <a:p>
            <a:pPr algn="ct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пунктирная линия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tau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= 0.01, штриховая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tau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= 0.005, сплошная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tau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= 0.0025.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C9AA8A-CBF4-4E72-8AB8-A2A70FDF4E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445"/>
          <a:stretch/>
        </p:blipFill>
        <p:spPr>
          <a:xfrm>
            <a:off x="3147568" y="1446835"/>
            <a:ext cx="6335009" cy="3962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294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энергии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1EC121-A68C-4F0C-8059-A1BA98CA7F53}"/>
              </a:ext>
            </a:extLst>
          </p:cNvPr>
          <p:cNvSpPr/>
          <p:nvPr/>
        </p:nvSpPr>
        <p:spPr>
          <a:xfrm>
            <a:off x="3048000" y="282883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ru-RU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A5716BD-B4E7-4501-A358-F954BFEAF6D2}"/>
              </a:ext>
            </a:extLst>
          </p:cNvPr>
          <p:cNvSpPr/>
          <p:nvPr/>
        </p:nvSpPr>
        <p:spPr>
          <a:xfrm>
            <a:off x="2219318" y="5552986"/>
            <a:ext cx="898208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Механическая энергия в различные моменты времени, вычисленное на сетке M = 50: 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7C4A9B4-86A0-4A0B-9658-B9EC70052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523" y="1391529"/>
            <a:ext cx="7049128" cy="418915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EC039-10F5-4CEB-A60C-9F8E9C2A9B11}"/>
                  </a:ext>
                </a:extLst>
              </p:cNvPr>
              <p:cNvSpPr txBox="1"/>
              <p:nvPr/>
            </p:nvSpPr>
            <p:spPr>
              <a:xfrm>
                <a:off x="4539524" y="5886131"/>
                <a:ext cx="3551100" cy="97186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grow m:val="on"/>
                          <m:supHide m:val="on"/>
                          <m:ctrlP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ru-RU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ru-RU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ru-RU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chemeClr val="accent1">
                                                  <a:lumMod val="50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𝛱</m:t>
                              </m:r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chemeClr val="accent1">
                                              <a:lumMod val="50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  <m:r>
                            <a:rPr lang="ru-RU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ru-RU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0EC039-10F5-4CEB-A60C-9F8E9C2A9B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9524" y="5886131"/>
                <a:ext cx="3551100" cy="9718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3413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Эволюция числа Куранта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75FD52DC-6D2A-4794-BCA7-E3409DC00D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57466" y="1142995"/>
            <a:ext cx="7315215" cy="4572009"/>
          </a:xfr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3FD02D5-D70F-44B2-8B47-C2E8D9FA856A}"/>
              </a:ext>
            </a:extLst>
          </p:cNvPr>
          <p:cNvSpPr/>
          <p:nvPr/>
        </p:nvSpPr>
        <p:spPr>
          <a:xfrm>
            <a:off x="3838575" y="5639485"/>
            <a:ext cx="63055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Эволюция числа Куранта, вычисленного с </a:t>
            </a:r>
            <a:r>
              <a:rPr lang="ru-RU" dirty="0" err="1">
                <a:solidFill>
                  <a:schemeClr val="accent1">
                    <a:lumMod val="50000"/>
                  </a:schemeClr>
                </a:solidFill>
              </a:rPr>
              <a:t>tau</a:t>
            </a:r>
            <a:r>
              <a:rPr lang="ru-RU" dirty="0">
                <a:solidFill>
                  <a:schemeClr val="accent1">
                    <a:lumMod val="50000"/>
                  </a:schemeClr>
                </a:solidFill>
              </a:rPr>
              <a:t> = 0.01.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35092C-311A-4381-A6EA-731F3909A67D}"/>
                  </a:ext>
                </a:extLst>
              </p:cNvPr>
              <p:cNvSpPr txBox="1"/>
              <p:nvPr/>
            </p:nvSpPr>
            <p:spPr>
              <a:xfrm>
                <a:off x="4945224" y="6008817"/>
                <a:ext cx="3303340" cy="5186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ru-RU" i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limLow>
                            <m:limLowPr>
                              <m:ctrlP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𝛺</m:t>
                              </m:r>
                            </m:lim>
                          </m:limLow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ru-RU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ru-RU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limLow>
                            <m:limLowPr>
                              <m:ctrlP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i="0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𝛺</m:t>
                              </m:r>
                            </m:lim>
                          </m:limLow>
                          <m:d>
                            <m:dPr>
                              <m:begChr m:val="|"/>
                              <m:endChr m:val="|"/>
                              <m:ctrlPr>
                                <a:rPr lang="ru-RU" i="1">
                                  <a:solidFill>
                                    <a:schemeClr val="accent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ru-RU" i="0">
                                      <a:solidFill>
                                        <a:schemeClr val="accent1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ru-RU" i="1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f>
                        <m:fPr>
                          <m:ctrlP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den>
                      </m:f>
                    </m:oMath>
                  </m:oMathPara>
                </a14:m>
                <a:endParaRPr lang="ru-RU" dirty="0">
                  <a:solidFill>
                    <a:schemeClr val="accent1">
                      <a:lumMod val="50000"/>
                    </a:schemeClr>
                  </a:solidFill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535092C-311A-4381-A6EA-731F3909A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5224" y="6008817"/>
                <a:ext cx="3303340" cy="5186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260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Сходимость итераций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9B49255A-8D7F-44EF-AD99-8184D1C50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707771"/>
              </p:ext>
            </p:extLst>
          </p:nvPr>
        </p:nvGraphicFramePr>
        <p:xfrm>
          <a:off x="2251073" y="194564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955949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145051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696531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69152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Итерации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0,0025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94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5.533е-04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1.411е-04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3.549е-05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80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5.881е-06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4.057е-07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2.608е-08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11498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7.845е-11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5.040е-13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2.239е-15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647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59651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603035-18C8-41A2-A6A7-833DE39BE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50" y="365126"/>
            <a:ext cx="10077449" cy="1054100"/>
          </a:xfrm>
        </p:spPr>
        <p:txBody>
          <a:bodyPr/>
          <a:lstStyle/>
          <a:p>
            <a:r>
              <a:rPr lang="ru-RU">
                <a:solidFill>
                  <a:schemeClr val="accent1">
                    <a:lumMod val="50000"/>
                  </a:schemeClr>
                </a:solidFill>
                <a:latin typeface="Arial Black" panose="020B0A04020102020204" pitchFamily="34" charset="0"/>
              </a:rPr>
              <a:t>Заключение</a:t>
            </a:r>
            <a:endParaRPr lang="ru-RU" dirty="0">
              <a:solidFill>
                <a:schemeClr val="accent1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1264ADE-F840-456B-A21F-0B1F28A1F1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6350" y="1419226"/>
            <a:ext cx="10077450" cy="4757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Реализована итерационна схема расщепления по физическим процессам для уравнений Навье–Стокса с модифицированным давлением</a:t>
            </a:r>
          </a:p>
          <a:p>
            <a:pPr marL="0" indent="0">
              <a:buNone/>
            </a:pPr>
            <a:r>
              <a:rPr lang="ru-RU" sz="2400" b="1" dirty="0">
                <a:solidFill>
                  <a:schemeClr val="accent1">
                    <a:lumMod val="50000"/>
                  </a:schemeClr>
                </a:solidFill>
              </a:rPr>
              <a:t>Результаты показывают устойчивость, быструю сходимость и снижение вычислительной сложности.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41B3-31AB-4595-A861-75C14872A23C}"/>
              </a:ext>
            </a:extLst>
          </p:cNvPr>
          <p:cNvSpPr/>
          <p:nvPr/>
        </p:nvSpPr>
        <p:spPr>
          <a:xfrm>
            <a:off x="581025" y="0"/>
            <a:ext cx="40005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9506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2901</TotalTime>
  <Words>460</Words>
  <Application>Microsoft Office PowerPoint</Application>
  <PresentationFormat>Широкоэкранный</PresentationFormat>
  <Paragraphs>89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Cambria Math</vt:lpstr>
      <vt:lpstr>Тема Office</vt:lpstr>
      <vt:lpstr>Схемы расщепления для моделирования течений газа</vt:lpstr>
      <vt:lpstr>Введение</vt:lpstr>
      <vt:lpstr>Математическая модель</vt:lpstr>
      <vt:lpstr>Уравнение состояния:</vt:lpstr>
      <vt:lpstr>Численный метод</vt:lpstr>
      <vt:lpstr>Итерационная схема расщепления</vt:lpstr>
      <vt:lpstr>Постановка задачи</vt:lpstr>
      <vt:lpstr>Динамика плотности</vt:lpstr>
      <vt:lpstr>Эволюция плотности</vt:lpstr>
      <vt:lpstr>Эволюция времени</vt:lpstr>
      <vt:lpstr>Эволюция энергии</vt:lpstr>
      <vt:lpstr>Эволюция числа Куранта</vt:lpstr>
      <vt:lpstr>Сходимость итераций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Схемы расщепления для моделирования течений газа</dc:title>
  <dc:creator>Валентина Шарина</dc:creator>
  <cp:lastModifiedBy>Валентина Шарина</cp:lastModifiedBy>
  <cp:revision>19</cp:revision>
  <dcterms:created xsi:type="dcterms:W3CDTF">2026-03-23T07:59:56Z</dcterms:created>
  <dcterms:modified xsi:type="dcterms:W3CDTF">2026-03-26T19:33:55Z</dcterms:modified>
</cp:coreProperties>
</file>