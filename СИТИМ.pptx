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FBD1EC-46D4-4531-81F4-39B218C86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38CA3A3-01BB-44A3-816D-208A0E1A0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FC41DD-9FBC-41D3-93CA-A58F35AB1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C2DFAB-6637-49B1-A442-FB95BF95C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8C93BE-5C43-463E-927A-1FA276AB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448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2D1079-2E9F-4DAB-9690-6621D6910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7470A4-B5B5-4449-B310-EBC2841ED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EC9BA0-A4AF-4A81-8615-53AE34583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528D9A-9A3B-4E9D-BD72-953CD8757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410214-5CD4-421E-A8F7-2A5649A45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93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CF0775-81C6-49A9-A7A1-6767E81A5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996F52-03CF-47B4-995B-88156FAE5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371B7A-1C48-40E0-86E2-7477AFFE0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0EB0C6-6917-4429-B586-88230A708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3D0CCC-B3DE-490A-A410-9D4E54327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281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8AE86-FB28-4AD0-ADC9-6AD4E5768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88046E-C400-4DE4-8A84-795781028F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0EAA8EB-38BB-4C9D-8A29-C963EC185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E07A3CB-A257-4166-840A-F8861EF88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467131-AC35-4509-9C1C-E89AFA656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07F1D5-6E31-4C3A-87D7-CF6A7249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068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44F48E-F300-4370-8279-89314B873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2B3C7C-FF8E-451E-B7FF-BF75BDB9D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7B6C157-AEE6-4E35-8DE7-E14E30111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E33C030-82ED-4C2E-B790-781407FFD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064E048-E6D7-4393-821B-B440A4FAC2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B415222-A0FD-44E8-B8C5-D4FD21445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8DED004-AC25-4D85-BAEF-309A6AB22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9D5C39-A0D4-497C-BEA2-E7DBEE471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911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78C12-F5FD-4F35-871C-05CC7743E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C7979DB-2C59-4393-9CE3-0A30BA0D4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DFFAB42-6C73-4CEB-AB94-E408B12B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C881FF0-4D96-48D5-9BB2-AC5BAC071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133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8520D61-B945-4049-8F51-1C8444EA2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63CF4EB-4A48-4624-BA9F-CD44B59E7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2213F3-BBE1-4BFA-A224-E77D70B8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592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E8CD99-2FFB-47A0-9BFE-3C5F8778F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C8342A-8670-4068-A596-07CDD00CD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C75227-3A51-4DC7-8675-702F9000E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4516DC-A3C4-4C7E-906D-6885D9EB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093FD8-8998-4A26-B39D-A8932ACB3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E29980-C08C-49D0-B413-AF034459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327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83F216-D6F2-4213-84E2-44938A4A5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A153215-FF8D-4E67-AC0C-2D9E9B09BD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14AA88-2DA4-499D-8E75-8A994F929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A4E9C04-9268-42F3-88AD-726FFB954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16F03F-D5C6-483E-846C-37249836C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AD4E41-EFAF-4BD0-A4EF-ADC0BF6EC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834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30A437-6689-462B-B19A-62A044998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1CD00E-116D-46BE-A400-FE8297428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BE4C80-8777-4A67-98B0-28F364DF7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48069F-A700-4CB8-95DC-C99947EA3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84B9D2-FAE2-4F3F-905F-B2947FF26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31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135DB78-C714-4003-964B-AF997AE52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09B163-127D-436A-A518-459C1DF63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FF9DED-441B-4EF8-9629-99A544FC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01BD5B-131F-4140-B2A3-1427D8A93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7BDDD3-EB4F-4E26-BF42-88469F83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930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EEED0-7BD7-474F-8497-8CB0A8B7A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01A837-49C5-4F72-91C8-21B2F15BB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F03447-FEDE-4E35-AC71-826E44FA0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67E928-92FF-4C2F-AE07-413EC201A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694A8E-6039-4B35-9CA7-7F0C5103F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108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6AEA7-3D57-4DA4-8553-291B4AE94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5438"/>
            <a:ext cx="9144000" cy="2387600"/>
          </a:xfrm>
        </p:spPr>
        <p:txBody>
          <a:bodyPr/>
          <a:lstStyle/>
          <a:p>
            <a:r>
              <a:rPr lang="ru-RU" sz="40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Схемы расщепления для моделирования течений газа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C2055F9-A11B-4ABC-8761-FDAB049B2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4525" y="4625181"/>
            <a:ext cx="9144000" cy="1274762"/>
          </a:xfrm>
        </p:spPr>
        <p:txBody>
          <a:bodyPr>
            <a:normAutofit fontScale="77500" lnSpcReduction="20000"/>
          </a:bodyPr>
          <a:lstStyle/>
          <a:p>
            <a:pPr algn="r"/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Выполнила: студент 4-го курса, группы Б-ПМИ-22</a:t>
            </a:r>
            <a:br>
              <a:rPr lang="ru-RU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Шарина Валентина</a:t>
            </a:r>
          </a:p>
          <a:p>
            <a:pPr algn="r"/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Научный руководитель: к. ф.-м. н., ст. научный сотрудник лаборатории ВТ-ИИ ИМИ</a:t>
            </a:r>
          </a:p>
          <a:p>
            <a:pPr algn="r"/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Григорьев Василий Васильевич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5BB47F9-B686-43D0-B81C-154ADFB96F97}"/>
              </a:ext>
            </a:extLst>
          </p:cNvPr>
          <p:cNvSpPr/>
          <p:nvPr/>
        </p:nvSpPr>
        <p:spPr>
          <a:xfrm>
            <a:off x="581025" y="752475"/>
            <a:ext cx="400050" cy="27574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6117A9E-A1E3-4551-B998-CCCD4745F1D1}"/>
              </a:ext>
            </a:extLst>
          </p:cNvPr>
          <p:cNvSpPr/>
          <p:nvPr/>
        </p:nvSpPr>
        <p:spPr>
          <a:xfrm>
            <a:off x="11058525" y="3602038"/>
            <a:ext cx="400050" cy="275748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E68AEA7-3526-4782-B065-B04AF99FD10B}"/>
              </a:ext>
            </a:extLst>
          </p:cNvPr>
          <p:cNvSpPr/>
          <p:nvPr/>
        </p:nvSpPr>
        <p:spPr>
          <a:xfrm rot="5400000">
            <a:off x="2140744" y="-426244"/>
            <a:ext cx="400050" cy="275748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BB52B86-F3E1-421D-85F9-D95D7A8125C4}"/>
              </a:ext>
            </a:extLst>
          </p:cNvPr>
          <p:cNvSpPr/>
          <p:nvPr/>
        </p:nvSpPr>
        <p:spPr>
          <a:xfrm rot="5400000">
            <a:off x="9479756" y="4780757"/>
            <a:ext cx="400050" cy="275748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351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5"/>
            <a:ext cx="10077449" cy="1325563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264ADE-F840-456B-A21F-0B1F28A1F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350" y="1397000"/>
            <a:ext cx="1007745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Введение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Математическая модель уравнения Навье-Стокса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Численный метод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Схема расщепления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Постановка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Результаты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Заключение</a:t>
            </a:r>
          </a:p>
          <a:p>
            <a:pPr marL="514350" indent="-514350">
              <a:buFont typeface="+mj-lt"/>
              <a:buAutoNum type="arabicPeriod"/>
            </a:pPr>
            <a:endParaRPr lang="ru-RU" sz="2400" b="1" dirty="0">
              <a:solidFill>
                <a:schemeClr val="accent1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3310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264ADE-F840-456B-A21F-0B1F28A1F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350" y="1419226"/>
            <a:ext cx="10077450" cy="475773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Моделирование течений газа — ключевая задача CFD-моделирования.</a:t>
            </a:r>
            <a:br>
              <a:rPr lang="en-US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</a:b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Цель: построение эффективного численного метода для уравнений Навье–Стокса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6742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Математическая модель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1264ADE-F840-456B-A21F-0B1F28A1F1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76350" y="1419226"/>
                <a:ext cx="10077450" cy="475773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Уравнение непрерывности: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𝜕𝜌</m:t>
                          </m:r>
                        </m:num>
                        <m:den>
                          <m:r>
                            <a:rPr lang="ru-RU" sz="2400" b="0" i="0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a:rPr lang="ru-RU" sz="2400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ru-RU" sz="2400" b="0" i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2400" b="0" i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ru-RU" sz="2400" b="0" i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ru-RU" sz="2400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ru-RU" sz="2400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ru-RU" sz="2400" b="0" i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Уравнение импульса: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b="0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ru-RU" sz="2400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 b="0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ru-RU" sz="2400" b="0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num>
                        <m:den>
                          <m:r>
                            <a:rPr lang="ru-RU" sz="2400" b="0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a:rPr lang="ru-RU" sz="2400" b="0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ru-RU" sz="2400" b="0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2400" b="0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ru-RU" sz="2400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b="0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ru-RU" sz="2400" b="0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ru-RU" sz="2400" b="0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ru-RU" sz="2400" b="0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ru-RU" sz="2400" b="0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2400" b="0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ru-RU" sz="2400" b="0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ru-RU" sz="2400" b="0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Для уравнения Навье–Стокса добавляется вязкость: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ru-RU" sz="2400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ru-RU" sz="2400" i="1" dirty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400" b="0" i="1" dirty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ru-RU" sz="2400" b="0" i="1" dirty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num>
                      <m:den>
                        <m:r>
                          <a:rPr lang="ru-RU" sz="2400" b="0" i="0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∂</m:t>
                        </m:r>
                        <m:r>
                          <a:rPr lang="ru-RU" sz="24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ru-RU" sz="2400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ru-RU" sz="2400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∇</m:t>
                    </m:r>
                    <m:d>
                      <m:dPr>
                        <m:ctrlPr>
                          <a:rPr lang="ru-RU" sz="24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ru-RU" sz="24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ru-RU" sz="2400" b="0" i="0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ru-RU" sz="24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ru-RU" sz="2400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ru-RU" sz="2400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ru-RU" sz="24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2400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u-RU" sz="2400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ru-RU" sz="24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,</a:t>
                </a:r>
              </a:p>
              <a:p>
                <a:pPr marL="0" indent="0" algn="ctr">
                  <a:buNone/>
                </a:pPr>
                <a:r>
                  <a:rPr lang="ru-RU" sz="2400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						где</a:t>
                </a: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ru-RU" sz="2400" b="1" i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400" b="1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ru-RU" sz="2400" b="1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u-RU" sz="2400" b="1" i="0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ru-RU" sz="2400" b="1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ru-RU" sz="2400" b="1" i="0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ru-RU" sz="2400" b="1" i="0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  <m:sSup>
                          <m:sSupPr>
                            <m:ctrlPr>
                              <a:rPr lang="ru-RU" sz="2400" b="1" i="1" dirty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 b="1" i="1" dirty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ru-RU" sz="2400" b="1" i="1" dirty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ru-RU" sz="2400" b="1" i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sz="2400" b="1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b="1" i="0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ru-RU" sz="2400" b="1" i="0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ru-RU" sz="2400" b="1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ru-RU" sz="2400" b="1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u-RU" sz="2400" b="1" i="0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ru-RU" sz="2400" b="1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ru-RU" sz="2400" b="1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1264ADE-F840-456B-A21F-0B1F28A1F1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6350" y="1419226"/>
                <a:ext cx="10077450" cy="4757737"/>
              </a:xfrm>
              <a:blipFill>
                <a:blip r:embed="rId2"/>
                <a:stretch>
                  <a:fillRect l="-907" t="-1795" b="-8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0897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Уравнение состояния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982737-6131-4461-83A3-4D6E9DF482F4}"/>
                  </a:ext>
                </a:extLst>
              </p:cNvPr>
              <p:cNvSpPr txBox="1"/>
              <p:nvPr/>
            </p:nvSpPr>
            <p:spPr>
              <a:xfrm>
                <a:off x="2609851" y="2917296"/>
                <a:ext cx="2334358" cy="1471493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3500000" scaled="1"/>
                <a:tileRect/>
              </a:gradFill>
              <a:ln w="28575"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ru-RU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ru-RU" sz="3200" b="1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2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ru-RU" sz="32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2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𝝆</m:t>
                          </m:r>
                        </m:e>
                        <m:sup>
                          <m:r>
                            <a:rPr lang="ru-RU" sz="32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𝜸</m:t>
                          </m:r>
                        </m:sup>
                      </m:sSup>
                    </m:oMath>
                  </m:oMathPara>
                </a14:m>
                <a:endParaRPr lang="ru-RU" b="1" dirty="0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982737-6131-4461-83A3-4D6E9DF48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9851" y="2917296"/>
                <a:ext cx="2334358" cy="1471493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DBAC6F-33D8-4CAE-8A09-A44D2B8FA614}"/>
                  </a:ext>
                </a:extLst>
              </p:cNvPr>
              <p:cNvSpPr txBox="1"/>
              <p:nvPr/>
            </p:nvSpPr>
            <p:spPr>
              <a:xfrm>
                <a:off x="7067550" y="2608480"/>
                <a:ext cx="3962400" cy="20891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3500000" scaled="1"/>
                <a:tileRect/>
              </a:gradFill>
              <a:ln w="28575"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ru-RU" b="1" i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endParaRPr lang="ru-RU" b="1" i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ru-RU" sz="2400" b="1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24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ru-RU" sz="2400" b="1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ru-RU" sz="24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𝝆</m:t>
                      </m:r>
                      <m:r>
                        <a:rPr lang="ru-RU" sz="2400" b="1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ru-RU" sz="24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𝜸</m:t>
                          </m:r>
                          <m:r>
                            <a:rPr lang="ru-RU" sz="2400" b="1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 b="1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sSup>
                        <m:sSupPr>
                          <m:ctrlPr>
                            <a:rPr lang="ru-RU" sz="24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𝝆</m:t>
                          </m:r>
                        </m:e>
                        <m:sup>
                          <m:r>
                            <a:rPr lang="ru-RU" sz="24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𝜸</m:t>
                          </m:r>
                        </m:sup>
                      </m:sSup>
                    </m:oMath>
                  </m:oMathPara>
                </a14:m>
                <a:endParaRPr lang="ru-RU" b="1" dirty="0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endParaRPr lang="ru-RU" b="1" dirty="0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endParaRPr lang="ru-RU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DBAC6F-33D8-4CAE-8A09-A44D2B8FA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7550" y="2608480"/>
                <a:ext cx="3962400" cy="208912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Овал 7">
            <a:extLst>
              <a:ext uri="{FF2B5EF4-FFF2-40B4-BE49-F238E27FC236}">
                <a16:creationId xmlns:a16="http://schemas.microsoft.com/office/drawing/2014/main" id="{B58FF381-689F-43A5-98DC-37D635A10369}"/>
              </a:ext>
            </a:extLst>
          </p:cNvPr>
          <p:cNvSpPr/>
          <p:nvPr/>
        </p:nvSpPr>
        <p:spPr>
          <a:xfrm>
            <a:off x="2486025" y="4810897"/>
            <a:ext cx="45719" cy="468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50D0D860-4755-4DE5-8033-558E428D0757}"/>
              </a:ext>
            </a:extLst>
          </p:cNvPr>
          <p:cNvCxnSpPr/>
          <p:nvPr/>
        </p:nvCxnSpPr>
        <p:spPr>
          <a:xfrm>
            <a:off x="5381992" y="3643518"/>
            <a:ext cx="1428016" cy="0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7963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Численный метод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264ADE-F840-456B-A21F-0B1F28A1F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350" y="1419226"/>
            <a:ext cx="10077450" cy="4757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Используется метод конечных элементов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 (FEM)</a:t>
            </a: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 в пространстве и неявная схема (</a:t>
            </a:r>
            <a:r>
              <a:rPr lang="ru-RU" sz="2400" b="1" dirty="0" err="1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Backward</a:t>
            </a: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ru-RU" sz="2400" b="1" dirty="0" err="1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Euler</a:t>
            </a: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) для времени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BE8E30-F6A7-4F45-AED0-243B21EF1E35}"/>
                  </a:ext>
                </a:extLst>
              </p:cNvPr>
              <p:cNvSpPr txBox="1"/>
              <p:nvPr/>
            </p:nvSpPr>
            <p:spPr>
              <a:xfrm>
                <a:off x="4234631" y="2672209"/>
                <a:ext cx="4160883" cy="7505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4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b="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400" b="0" i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ru-RU" sz="2400" b="0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b="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ru-RU" sz="2400" b="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ru-RU" sz="2400" b="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2400" b="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ru-RU" sz="24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4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b="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400" b="0" i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4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ru-RU" sz="2400" b="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400" b="0" i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ru-RU" sz="2400" b="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BE8E30-F6A7-4F45-AED0-243B21EF1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631" y="2672209"/>
                <a:ext cx="4160883" cy="7505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512A02-88FA-4F7C-A67E-612557ED1FFC}"/>
                  </a:ext>
                </a:extLst>
              </p:cNvPr>
              <p:cNvSpPr txBox="1"/>
              <p:nvPr/>
            </p:nvSpPr>
            <p:spPr>
              <a:xfrm>
                <a:off x="1457324" y="4142641"/>
                <a:ext cx="9715499" cy="8636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800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80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800" i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800" i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ru-RU" sz="2800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ru-RU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ru-RU" sz="2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2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ru-RU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800" i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800" i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ru-RU" sz="2800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p>
                            <m:sSupPr>
                              <m:ctrlP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800" i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ru-RU" sz="2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2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p>
                        <m:sSupPr>
                          <m:ctrlPr>
                            <a:rPr lang="ru-RU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ru-RU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800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ru-RU" sz="2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 sz="2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p>
                        <m:sSupPr>
                          <m:ctrlPr>
                            <a:rPr lang="ru-RU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p>
                          <m:r>
                            <a:rPr lang="ru-RU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800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512A02-88FA-4F7C-A67E-612557ED1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324" y="4142641"/>
                <a:ext cx="9715499" cy="8636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3084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Схема расщепления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1264ADE-F840-456B-A21F-0B1F28A1F1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76350" y="1419226"/>
                <a:ext cx="10077450" cy="4757737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Исходная система разбивается на две подзадачи:</a:t>
                </a:r>
              </a:p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Уравнение для плотности:</a:t>
                </a:r>
              </a:p>
              <a:p>
                <a:pPr marL="0" indent="0">
                  <a:buNone/>
                </a:pPr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b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400" b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sz="2400" b="1" i="0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ru-RU" sz="2400" b="1" i="0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ru-RU" sz="2400" b="1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ru-RU" sz="2400" b="1" i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2400" b="1" i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ru-RU" sz="2400" b="1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sz="2400" b="1" i="0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ru-RU" sz="2400" b="1" i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Уравнение для скорости:</a:t>
                </a:r>
              </a:p>
              <a:p>
                <a:pPr marL="0" indent="0">
                  <a:buNone/>
                </a:pPr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b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400" b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sz="2400" b="1" i="0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sz="2400" b="1" i="0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ru-RU" sz="2400" b="1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ru-RU" sz="2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2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sz="2400" b="1" i="0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sz="2400" b="1" i="0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ru-RU" sz="2400" b="1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p>
                            <m:sSupPr>
                              <m:ctrlP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ru-RU" sz="2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2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ru-RU" sz="2400" b="1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sz="2400" b="1" i="0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ru-RU" sz="2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 sz="2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p>
                        <m:sSupPr>
                          <m:ctrlP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p>
                          <m: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sz="2400" b="1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Начальные условия:</a:t>
                </a:r>
              </a:p>
              <a:p>
                <a:pPr marL="0" indent="0">
                  <a:buNone/>
                </a:pPr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1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2400" b="1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ru-RU" sz="2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ru-RU" sz="2400" b="1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d>
                        <m:dPr>
                          <m:ctrlP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2400" b="1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ru-RU" sz="2400" b="1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2400" b="1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ru-RU" sz="2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p>
                          <m:r>
                            <a:rPr lang="ru-RU" sz="2400" b="1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d>
                        <m:dPr>
                          <m:ctrlP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2400" b="1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ru-RU" sz="2400" b="1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ru-RU" sz="2400" b="1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</m:oMath>
                  </m:oMathPara>
                </a14:m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1264ADE-F840-456B-A21F-0B1F28A1F1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6350" y="1419226"/>
                <a:ext cx="10077450" cy="4757737"/>
              </a:xfrm>
              <a:blipFill>
                <a:blip r:embed="rId2"/>
                <a:stretch>
                  <a:fillRect l="-907" t="-24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974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Постановка тестовой задачи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1264ADE-F840-456B-A21F-0B1F28A1F1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76350" y="1419226"/>
                <a:ext cx="10077450" cy="475773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Область: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ru-RU" sz="2400" b="1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4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b="1" i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−5,5</m:t>
                          </m:r>
                        </m:e>
                      </m:d>
                      <m:r>
                        <a:rPr lang="ru-RU" sz="2400" b="1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4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b="1" i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−5,5</m:t>
                          </m:r>
                        </m:e>
                      </m:d>
                    </m:oMath>
                  </m:oMathPara>
                </a14:m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Начальная плотность: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b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ru-RU" sz="2400" b="1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2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=1+2</m:t>
                      </m:r>
                      <m:sSup>
                        <m:sSupPr>
                          <m:ctrlP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b="1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ⅇ</m:t>
                          </m:r>
                        </m:e>
                        <m:sup>
                          <m:r>
                            <a:rPr lang="ru-RU" sz="2400" b="1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−20</m:t>
                          </m:r>
                          <m:sSup>
                            <m:sSupPr>
                              <m:ctrlP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ru-RU" sz="2400" b="1" i="1" dirty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400" b="1" i="1" dirty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sz="2400" b="1" i="0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Начальная скорость: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b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1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ru-RU" sz="2400" b="1" i="0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2400" b="1" i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Граничные условия: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400" b="1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ru-RU" sz="2400" b="1" i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 </a:t>
                </a:r>
                <a:r>
                  <a:rPr lang="ru-RU" sz="2400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на </a:t>
                </a:r>
                <a14:m>
                  <m:oMath xmlns:m="http://schemas.openxmlformats.org/officeDocument/2006/math">
                    <m:r>
                      <a:rPr lang="ru-RU" sz="240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∂</m:t>
                    </m:r>
                    <m:r>
                      <a:rPr lang="ru-RU" sz="2400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endParaRPr lang="ru-RU" sz="2400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1264ADE-F840-456B-A21F-0B1F28A1F1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6350" y="1419226"/>
                <a:ext cx="10077450" cy="4757737"/>
              </a:xfrm>
              <a:blipFill>
                <a:blip r:embed="rId2"/>
                <a:stretch>
                  <a:fillRect l="-907" t="-17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540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Динамика поля плотности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A8DB3511-8261-47FC-8FFA-C72F47110E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349" y="2081213"/>
            <a:ext cx="10077450" cy="2519362"/>
          </a:xfr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7222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Эволюция плотности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8ED50EC-4158-4126-BE91-FB7901030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467" y="1512089"/>
            <a:ext cx="7315215" cy="4572009"/>
          </a:xfr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936477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Эволюция времени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5FD52DC-6D2A-4794-BCA7-E3409DC00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467" y="1512089"/>
            <a:ext cx="7315215" cy="4572009"/>
          </a:xfr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294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Эволюция числа Куранта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5FD52DC-6D2A-4794-BCA7-E3409DC00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7467" y="1512089"/>
            <a:ext cx="7315215" cy="4572009"/>
          </a:xfr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6260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Сходимость итераций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9B49255A-8D7F-44EF-AD99-8184D1C50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707771"/>
              </p:ext>
            </p:extLst>
          </p:nvPr>
        </p:nvGraphicFramePr>
        <p:xfrm>
          <a:off x="2251073" y="194564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0955949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145051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6965316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69152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Итерации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0,0025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49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5.533е-04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1.411е-04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3.549е-05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380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5.881е-06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4.057е-07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2.608е-08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14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7.845е-11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5.040е-13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2.239е-15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47013"/>
                  </a:ext>
                </a:extLst>
              </a:tr>
            </a:tbl>
          </a:graphicData>
        </a:graphic>
      </p:graphicFrame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814D714-CA9B-4596-BC20-A7532B2BF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6717" y="3838471"/>
            <a:ext cx="5849166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965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/>
          <a:lstStyle/>
          <a:p>
            <a:r>
              <a:rPr lang="ru-RU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Заключение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264ADE-F840-456B-A21F-0B1F28A1F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350" y="1419226"/>
            <a:ext cx="10077450" cy="4757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</a:rPr>
              <a:t>Реализована схема расщепления для уравнений Навье–Стокса с модифицированным давлением</a:t>
            </a:r>
          </a:p>
          <a:p>
            <a:pPr marL="0" indent="0"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</a:rPr>
              <a:t>Результаты показывают устойчивость, быструю сходимость и снижение вычислительной сложности.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9506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684</TotalTime>
  <Words>314</Words>
  <Application>Microsoft Office PowerPoint</Application>
  <PresentationFormat>Широкоэкранный</PresentationFormat>
  <Paragraphs>78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Cambria Math</vt:lpstr>
      <vt:lpstr>Тема Office</vt:lpstr>
      <vt:lpstr>Схемы расщепления для моделирования течений газа</vt:lpstr>
      <vt:lpstr>Содержание</vt:lpstr>
      <vt:lpstr>Актуальность</vt:lpstr>
      <vt:lpstr>Математическая модель</vt:lpstr>
      <vt:lpstr>Уравнение состояния</vt:lpstr>
      <vt:lpstr>Численный метод</vt:lpstr>
      <vt:lpstr>Схема расщепления</vt:lpstr>
      <vt:lpstr>Постановка тестовой задачи</vt:lpstr>
      <vt:lpstr>Динамика поля плотности</vt:lpstr>
      <vt:lpstr>Эволюция плотности</vt:lpstr>
      <vt:lpstr>Эволюция времени</vt:lpstr>
      <vt:lpstr>Эволюция числа Куранта</vt:lpstr>
      <vt:lpstr>Сходимость итераций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Схемы расщепления для моделирования течений газа</dc:title>
  <dc:creator>Валентина Шарина</dc:creator>
  <cp:lastModifiedBy>Валентина Шарина</cp:lastModifiedBy>
  <cp:revision>8</cp:revision>
  <dcterms:created xsi:type="dcterms:W3CDTF">2026-03-23T07:59:56Z</dcterms:created>
  <dcterms:modified xsi:type="dcterms:W3CDTF">2026-03-24T18:56:15Z</dcterms:modified>
</cp:coreProperties>
</file>